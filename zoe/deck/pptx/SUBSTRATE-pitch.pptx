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6d4a773-ed47-e619-3581-791053d42a64}">
          <p14:sldIdLst>
            <p14:sldId id="256"/>
          </p14:sldIdLst>
        </p14:section>
        <p14:section name="Before" id="{389989b9-39ff-cfcb-ae45-cb6f84097714}">
          <p14:sldIdLst>
            <p14:sldId id="257"/>
            <p14:sldId id="258"/>
          </p14:sldIdLst>
        </p14:section>
        <p14:section name="After" id="{f5638608-f1b4-971e-cd12-65d28001402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lose" id="{5f1b1fb0-4be5-3eec-3f9f-8a43c78a134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0:00–0:20. Open on the title. "Every city runs on something." Introduce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0:20–0:45. The brief was polished and optimistic, but swap the logo and it could be any tech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0:45–1:20. Say three out loud: audience, tell-don’t-show, CTA. AMD’s strength is that it’s invisible; the original tried to fix that by talking louder.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1:20–1:40. So we stopped making an ad about AMD. We built a place that runs on AMD.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1:40–2:30. Arcane’s cinematic characters meet Roku City’s hidden world inside your tech. AMD never narrates: AMD is the ground the city stands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Subster, the Hooded Courier: an Underlayer robot who can see the current. Always tiny against the city, and the audience’s way into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2:55–3:10. The reels aren’t trailers. Each one stands alone: one district, one character, one hook in the first second. The reel plays with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3:10–4:00. Ask someone afterwards "What does AMD power?" and they say "the whole city". That’s measurable with a brand-lift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the base. The real goal is to hand the city to creators: a streamer competition, a vertical series of their runs, and eventually AMD streamer ambassadors animated into the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4:00–4:40. One sentence per lesson, with the moment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4:40–4:50. The original said "AMD powers what’s next". We’d rather show it: a whole city of it.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_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89000" y="698500"/>
            <a:ext cx="1041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5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89000" y="1079500"/>
            <a:ext cx="1041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_STATEM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_ORIGINAL">
    <p:bg>
      <p:bgPr>
        <a:solidFill>
          <a:srgbClr val="1B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video" Target="../media/media-7-4.mp4"/><Relationship Id="rId5" Type="http://schemas.microsoft.com/office/2007/relationships/media" Target="../media/media-7-4.mp4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MD log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444500"/>
            <a:ext cx="1333500" cy="534997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889000" y="241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CREATIVE PATHWAYS · FINAL PITCH</a:t>
            </a:r>
            <a:endParaRPr lang="en-US" sz="1200" dirty="0"/>
          </a:p>
        </p:txBody>
      </p:sp>
      <p:sp>
        <p:nvSpPr>
          <p:cNvPr id="5" name="Series title"/>
          <p:cNvSpPr txBox="1"/>
          <p:nvPr/>
        </p:nvSpPr>
        <p:spPr>
          <a:xfrm>
            <a:off x="889000" y="27305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spc="1800" kern="0" dirty="0">
                <a:solidFill>
                  <a:schemeClr val="bg1"/>
                </a:solidFill>
                <a:effectLst>
                  <a:glow rad="228600">
                    <a:srgbClr val="2EE6FF">
                      <a:alpha val="4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SUBSTRATE</a:t>
            </a:r>
            <a:endParaRPr lang="en-US" sz="10000" dirty="0"/>
          </a:p>
        </p:txBody>
      </p:sp>
      <p:sp>
        <p:nvSpPr>
          <p:cNvPr id="6" name="Tagline"/>
          <p:cNvSpPr txBox="1"/>
          <p:nvPr/>
        </p:nvSpPr>
        <p:spPr>
          <a:xfrm>
            <a:off x="889000" y="4389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CITY RUNS ON </a:t>
            </a:r>
            <a:pPr indent="0" marL="0">
              <a:buNone/>
            </a:pPr>
            <a:r>
              <a:rPr lang="en-US" sz="2200" b="1" spc="5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SOMETHING.</a:t>
            </a:r>
            <a:endParaRPr lang="en-US" sz="2200" dirty="0"/>
          </a:p>
        </p:txBody>
      </p:sp>
      <p:sp>
        <p:nvSpPr>
          <p:cNvPr id="7" name="Team"/>
          <p:cNvSpPr txBox="1"/>
          <p:nvPr/>
        </p:nvSpPr>
        <p:spPr>
          <a:xfrm>
            <a:off x="889000" y="5969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 SCHULDENFREI · NICHOLAS MOFFATT · MICHAEL BADILLO-SANCHEZ · ARNOLDO GARZA CORTES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900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9A9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89000" y="14605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“AMD Powers What’s Next”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89000" y="2667000"/>
            <a:ext cx="4846320" cy="0"/>
          </a:xfrm>
          <a:prstGeom prst="line">
            <a:avLst/>
          </a:prstGeom>
          <a:noFill/>
          <a:ln w="9525">
            <a:solidFill>
              <a:srgbClr val="5A5F6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9000" y="2831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352040" y="28315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2-minute corporate brand video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01080" y="2667000"/>
            <a:ext cx="4846320" cy="0"/>
          </a:xfrm>
          <a:prstGeom prst="line">
            <a:avLst/>
          </a:prstGeom>
          <a:noFill/>
          <a:ln w="9525">
            <a:solidFill>
              <a:srgbClr val="5A5F6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01080" y="2831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64120" y="28315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interviews, offices, beauty shots, stock AI imagery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89000" y="3535680"/>
            <a:ext cx="4846320" cy="0"/>
          </a:xfrm>
          <a:prstGeom prst="line">
            <a:avLst/>
          </a:prstGeom>
          <a:noFill/>
          <a:ln w="9525">
            <a:solidFill>
              <a:srgbClr val="5A5F6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9000" y="3700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52040" y="3700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at once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01080" y="3535680"/>
            <a:ext cx="4846320" cy="0"/>
          </a:xfrm>
          <a:prstGeom prst="line">
            <a:avLst/>
          </a:prstGeom>
          <a:noFill/>
          <a:ln w="9525">
            <a:solidFill>
              <a:srgbClr val="5A5F6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01080" y="3700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564120" y="3700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Inspirational music, confident voice-over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9000" y="4404360"/>
            <a:ext cx="4846320" cy="0"/>
          </a:xfrm>
          <a:prstGeom prst="line">
            <a:avLst/>
          </a:prstGeom>
          <a:noFill/>
          <a:ln w="9525">
            <a:solidFill>
              <a:srgbClr val="5A5F6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9000" y="4568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352040" y="45689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“Visit AMD.com”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01080" y="4404360"/>
            <a:ext cx="4846320" cy="0"/>
          </a:xfrm>
          <a:prstGeom prst="line">
            <a:avLst/>
          </a:prstGeom>
          <a:noFill/>
          <a:ln w="9525">
            <a:solidFill>
              <a:srgbClr val="5A5F6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01080" y="4568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64120" y="45689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9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engagement, sentiment</a:t>
            </a:r>
            <a:endParaRPr lang="en-US" sz="15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89000" y="698500"/>
            <a:ext cx="1041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</a:rPr>
              <a:t>WHAT WAS WRONG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89000" y="1079500"/>
            <a:ext cx="104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Polished. Optimistic. </a:t>
            </a:r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Forgettable.</a:t>
            </a:r>
            <a:endParaRPr lang="en-US" sz="4400" dirty="0"/>
          </a:p>
        </p:txBody>
      </p:sp>
      <p:sp>
        <p:nvSpPr>
          <p:cNvPr id="5" name="Problem 1"/>
          <p:cNvSpPr/>
          <p:nvPr/>
        </p:nvSpPr>
        <p:spPr>
          <a:xfrm>
            <a:off x="889000" y="2103120"/>
            <a:ext cx="3337560" cy="196596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63320" y="2359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63320" y="2651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TO EVERYONE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63320" y="3246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 speaks to no one in particular.</a:t>
            </a:r>
            <a:endParaRPr lang="en-US" sz="1400" dirty="0"/>
          </a:p>
        </p:txBody>
      </p:sp>
      <p:sp>
        <p:nvSpPr>
          <p:cNvPr id="9" name="Problem 2"/>
          <p:cNvSpPr/>
          <p:nvPr/>
        </p:nvSpPr>
        <p:spPr>
          <a:xfrm>
            <a:off x="4500880" y="2103120"/>
            <a:ext cx="3337560" cy="196596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75200" y="2359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75200" y="2651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TELLS, DOESN’T SHOW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75200" y="3246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about innovation instead of a story people care about.</a:t>
            </a:r>
            <a:endParaRPr lang="en-US" sz="1400" dirty="0"/>
          </a:p>
        </p:txBody>
      </p:sp>
      <p:sp>
        <p:nvSpPr>
          <p:cNvPr id="13" name="Problem 3"/>
          <p:cNvSpPr/>
          <p:nvPr/>
        </p:nvSpPr>
        <p:spPr>
          <a:xfrm>
            <a:off x="8112760" y="2103120"/>
            <a:ext cx="3337560" cy="196596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87080" y="2359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87080" y="2651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LIKE EVERY TECH AD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387080" y="3246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Execs, offices and glowing chips are the category default.</a:t>
            </a:r>
            <a:endParaRPr lang="en-US" sz="1400" dirty="0"/>
          </a:p>
        </p:txBody>
      </p:sp>
      <p:sp>
        <p:nvSpPr>
          <p:cNvPr id="17" name="Problem 4"/>
          <p:cNvSpPr/>
          <p:nvPr/>
        </p:nvSpPr>
        <p:spPr>
          <a:xfrm>
            <a:off x="889000" y="4251960"/>
            <a:ext cx="3337560" cy="196596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6332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63320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LENGTH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63320" y="5394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long for social, too generic for events.</a:t>
            </a:r>
            <a:endParaRPr lang="en-US" sz="1400" dirty="0"/>
          </a:p>
        </p:txBody>
      </p:sp>
      <p:sp>
        <p:nvSpPr>
          <p:cNvPr id="21" name="Problem 5"/>
          <p:cNvSpPr/>
          <p:nvPr/>
        </p:nvSpPr>
        <p:spPr>
          <a:xfrm>
            <a:off x="4500880" y="4251960"/>
            <a:ext cx="3337560" cy="196596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7520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775200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CTA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775200" y="5394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“Visit AMD.com” gives no reason to act.</a:t>
            </a:r>
            <a:endParaRPr lang="en-US" sz="1400" dirty="0"/>
          </a:p>
        </p:txBody>
      </p:sp>
      <p:sp>
        <p:nvSpPr>
          <p:cNvPr id="25" name="Problem 6"/>
          <p:cNvSpPr/>
          <p:nvPr/>
        </p:nvSpPr>
        <p:spPr>
          <a:xfrm>
            <a:off x="8112760" y="4251960"/>
            <a:ext cx="3337560" cy="196596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8708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387080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VANITY METRICS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387080" y="5394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not affinity or recall.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8890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TURN</a:t>
            </a:r>
            <a:endParaRPr lang="en-US" sz="1200" dirty="0"/>
          </a:p>
        </p:txBody>
      </p:sp>
      <p:sp>
        <p:nvSpPr>
          <p:cNvPr id="4" name="Statement"/>
          <p:cNvSpPr txBox="1"/>
          <p:nvPr/>
        </p:nvSpPr>
        <p:spPr>
          <a:xfrm>
            <a:off x="889000" y="22860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telling people what AMD powers.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effectLst>
                  <a:glow rad="152400">
                    <a:srgbClr val="2EE6FF">
                      <a:alpha val="3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Show them the ground </a:t>
            </a:r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effectLst>
                  <a:glow rad="152400">
                    <a:srgbClr val="39FF88">
                      <a:alpha val="3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they’re standing on.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89000" y="698500"/>
            <a:ext cx="1041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</a:rPr>
              <a:t>THE NEW CONCEPT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89000" y="1079500"/>
            <a:ext cx="104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SUBSTRATE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89000" y="2103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gothic-futuristic city whose people have no idea what their world really is. Every reel ends with the camera pulling back until we realize </a:t>
            </a:r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city is built on a processor.</a:t>
            </a:r>
            <a:endParaRPr lang="en-US" sz="2000" dirty="0"/>
          </a:p>
        </p:txBody>
      </p:sp>
      <p:sp>
        <p:nvSpPr>
          <p:cNvPr id="6" name="Step 1"/>
          <p:cNvSpPr/>
          <p:nvPr/>
        </p:nvSpPr>
        <p:spPr>
          <a:xfrm>
            <a:off x="889000" y="3840480"/>
            <a:ext cx="3154680" cy="192024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6332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SKYLINE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63320" y="4434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CIRCUITRY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63320" y="4892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Towers are the chip’s architecture.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153408" y="4526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tep 2"/>
          <p:cNvSpPr/>
          <p:nvPr/>
        </p:nvSpPr>
        <p:spPr>
          <a:xfrm>
            <a:off x="4610608" y="3840480"/>
            <a:ext cx="3154680" cy="192024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84928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RIVERS OF LIGHT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884928" y="4434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DATA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884928" y="4892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Photons pouring between the spires.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875016" y="4526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tep 3"/>
          <p:cNvSpPr/>
          <p:nvPr/>
        </p:nvSpPr>
        <p:spPr>
          <a:xfrm>
            <a:off x="8332216" y="3840480"/>
            <a:ext cx="3154680" cy="192024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06536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PULLBACK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06536" y="4434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REVEALS THE CHIP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606536" y="4892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the AMD logo. The brand reveal is the payoff.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bster frame"/>
          <p:cNvSpPr/>
          <p:nvPr/>
        </p:nvSpPr>
        <p:spPr>
          <a:xfrm>
            <a:off x="870712" y="896112"/>
            <a:ext cx="5157216" cy="4901184"/>
          </a:xfrm>
          <a:prstGeom prst="rect">
            <a:avLst/>
          </a:prstGeom>
          <a:solidFill>
            <a:srgbClr val="000000"/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" name="Subster" descr="Subster: a small hooded robot with big cyan eyes, a green chest core and light rising from its raised ha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914400"/>
            <a:ext cx="5120640" cy="48646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63640" y="822960"/>
            <a:ext cx="5394960" cy="5212080"/>
          </a:xfrm>
          <a:prstGeom prst="rect">
            <a:avLst/>
          </a:prstGeom>
          <a:solidFill>
            <a:srgbClr val="000000">
              <a:alpha val="88000"/>
            </a:srgbClr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49224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HERO</a:t>
            </a:r>
            <a:endParaRPr lang="en-US" sz="1200" dirty="0"/>
          </a:p>
        </p:txBody>
      </p:sp>
      <p:sp>
        <p:nvSpPr>
          <p:cNvPr id="7" name="Subster name"/>
          <p:cNvSpPr txBox="1"/>
          <p:nvPr/>
        </p:nvSpPr>
        <p:spPr>
          <a:xfrm>
            <a:off x="6492240" y="1371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300" kern="0" dirty="0">
                <a:solidFill>
                  <a:schemeClr val="bg1"/>
                </a:solidFill>
                <a:effectLst>
                  <a:glow rad="177800">
                    <a:srgbClr val="2EE6FF">
                      <a:alpha val="4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SUBSTER</a:t>
            </a:r>
            <a:endParaRPr lang="en-US" sz="64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2377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HOODED COURIER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3017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THE CURRENT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332841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courier from the Underlayer who can see the light and data no one else notices.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3977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AGAINST THE CITY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28853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tiny, always looking up. The audience’s way into the world.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4937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THE SEED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524865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core that decides which half of the city grows, delivered to the Gate.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89000" y="698500"/>
            <a:ext cx="1041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</a:rPr>
              <a:t>THE REELS · 20–45S · TIKTOK, REELS, SHORTS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89000" y="1079500"/>
            <a:ext cx="104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Story first. </a:t>
            </a:r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The chip last.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89000" y="2148840"/>
            <a:ext cx="676656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9000" y="2304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529080" y="225856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city runs on something.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29080" y="258775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Subster runs the Underlayer rooftops. Hero teaser.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89000" y="2990088"/>
            <a:ext cx="676656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9000" y="31455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29080" y="309981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529080" y="34290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Subster sees the light rivers for the first time. Pure spectacle.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89000" y="3831336"/>
            <a:ext cx="676656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9000" y="39867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529080" y="394106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529080" y="42702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orb is stolen: a chase through the Spires.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89000" y="4672584"/>
            <a:ext cx="676656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90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529080" y="478231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Gate.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529080" y="511149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Subster before the ring vault. Cliffhanger + series title.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89000" y="5669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ends the same way: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back → city is a chip → AMD.</a:t>
            </a:r>
            <a:endParaRPr lang="en-US" sz="1500" dirty="0"/>
          </a:p>
        </p:txBody>
      </p:sp>
      <p:sp>
        <p:nvSpPr>
          <p:cNvPr id="22" name="Phone frame"/>
          <p:cNvSpPr/>
          <p:nvPr/>
        </p:nvSpPr>
        <p:spPr>
          <a:xfrm>
            <a:off x="8531352" y="758952"/>
            <a:ext cx="2980944" cy="5340096"/>
          </a:xfrm>
          <a:prstGeom prst="roundRect">
            <a:avLst>
              <a:gd name="adj" fmla="val 5521"/>
            </a:avLst>
          </a:prstGeom>
          <a:solidFill>
            <a:srgbClr val="000000"/>
          </a:solidFill>
          <a:ln w="1905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95360" y="822960"/>
            <a:ext cx="2852928" cy="5074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  <p:par>
                          <p:cTn id="6" presetID="1" presetClass="mediacall" presetSubtype="0" fill="hold" nodeType="with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7" dur="15000" fill="hold"/>
                                  <p:tgtEl>
                                    <p:spTgt spid="6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8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89000" y="698500"/>
            <a:ext cx="1041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</a:rPr>
              <a:t>AUDIENCE TAKEAWAY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89000" y="155448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“AMD isn’t a logo at the end of an ad. 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effectLst>
                  <a:glow rad="127000">
                    <a:srgbClr val="2EE6FF">
                      <a:alpha val="3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It’s the ground the whole city stands on.”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89000" y="4206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reveal is the story’s payoff, so remembering the story means remembering AMD.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720840" y="1600200"/>
            <a:ext cx="457200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20840" y="1783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7556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gamers, animation fans, creators. Narrow on purpose.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20840" y="2624328"/>
            <a:ext cx="457200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20840" y="28072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77977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TikTok, Instagram Reels, YouTube Shorts, gaming streams, events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20840" y="3648456"/>
            <a:ext cx="457200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20840" y="38313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80390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“Find the city”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easter eggs + a streamer competition set inside SUBSTRATE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20840" y="4672584"/>
            <a:ext cx="457200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485546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48280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Watch-through, shares, follows, creator participation,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recall</a:t>
            </a:r>
            <a:endParaRPr lang="en-US" sz="14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889000" y="1079500"/>
            <a:ext cx="104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89000" y="698500"/>
            <a:ext cx="1041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</a:rPr>
              <a:t>WHAT’S NEXT</a:t>
            </a:r>
            <a:endParaRPr lang="en-US" sz="1200" dirty="0"/>
          </a:p>
        </p:txBody>
      </p:sp>
      <p:sp>
        <p:nvSpPr>
          <p:cNvPr id="4" name="Title"/>
          <p:cNvSpPr txBox="1"/>
          <p:nvPr/>
        </p:nvSpPr>
        <p:spPr>
          <a:xfrm>
            <a:off x="889000" y="10795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reels are the base.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build the city.</a:t>
            </a:r>
            <a:endParaRPr lang="en-US" sz="4000" dirty="0"/>
          </a:p>
        </p:txBody>
      </p:sp>
      <p:sp>
        <p:nvSpPr>
          <p:cNvPr id="5" name="Phase 1"/>
          <p:cNvSpPr/>
          <p:nvPr/>
        </p:nvSpPr>
        <p:spPr>
          <a:xfrm>
            <a:off x="889000" y="2606040"/>
            <a:ext cx="3291840" cy="361188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5032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THE BASE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5032" y="3227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SIZZLE REELS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45032" y="39776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world and the hook. Every reel ends on the same reveal: the city is the chip, and the chip is AMD.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208272" y="41605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Phase 2"/>
          <p:cNvSpPr/>
          <p:nvPr/>
        </p:nvSpPr>
        <p:spPr>
          <a:xfrm>
            <a:off x="4564888" y="2606040"/>
            <a:ext cx="3291840" cy="361188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209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· CREATORS ENTER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820920" y="3227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STREAMER COMPETITION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20920" y="39776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Streamers compete inside SUBSTRATE: race the rooftops, hunt the hidden chips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runs become a short-form vertical series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“Find the city” easter eggs pull fans in with them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84160" y="41605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Phase 3"/>
          <p:cNvSpPr/>
          <p:nvPr/>
        </p:nvSpPr>
        <p:spPr>
          <a:xfrm>
            <a:off x="8240776" y="2606040"/>
            <a:ext cx="3291840" cy="361188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96808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· CREATORS IN CANON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96808" y="3227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AMBASSADORS IN THE CITY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496808" y="39776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Famous streamers who already play on AMD, animated as characters in the series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audiences discover the city through someone they trust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audience stops watching the city and starts living in it</a:t>
            </a:r>
            <a:endParaRPr lang="en-US" sz="140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889000" y="1079500"/>
            <a:ext cx="104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89000" y="698500"/>
            <a:ext cx="1041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</a:rPr>
              <a:t>WHAT CHANGED OUR THINKING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89000" y="1079500"/>
            <a:ext cx="104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Program Lessons</a:t>
            </a:r>
            <a:endParaRPr lang="en-US" sz="4400" dirty="0"/>
          </a:p>
        </p:txBody>
      </p:sp>
      <p:sp>
        <p:nvSpPr>
          <p:cNvPr id="5" name="Lesson 1"/>
          <p:cNvSpPr/>
          <p:nvPr/>
        </p:nvSpPr>
        <p:spPr>
          <a:xfrm>
            <a:off x="889000" y="2194560"/>
            <a:ext cx="10424160" cy="118872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6332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803400" y="2377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is already inside everything; you just can’t see it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03400" y="274320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intros: learning AMD chips power healthcare, aerospace, robotics, gaming, and entertainment, from Pixar’s RenderMan to The Game Awards and the CES keynote</a:t>
            </a:r>
            <a:endParaRPr lang="en-US" sz="1400" dirty="0"/>
          </a:p>
        </p:txBody>
      </p:sp>
      <p:sp>
        <p:nvSpPr>
          <p:cNvPr id="9" name="Lesson 2"/>
          <p:cNvSpPr/>
          <p:nvPr/>
        </p:nvSpPr>
        <p:spPr>
          <a:xfrm>
            <a:off x="889000" y="3566160"/>
            <a:ext cx="10424160" cy="118872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63320" y="3822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803400" y="37490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 exists to solve a real problem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803400" y="411480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creative director session: the Air Force made a comedy web series about bowling leagues to boost morale, proof that entertainment can do serious work</a:t>
            </a:r>
            <a:endParaRPr lang="en-US" sz="1400" dirty="0"/>
          </a:p>
        </p:txBody>
      </p:sp>
      <p:sp>
        <p:nvSpPr>
          <p:cNvPr id="13" name="Lesson 3"/>
          <p:cNvSpPr/>
          <p:nvPr/>
        </p:nvSpPr>
        <p:spPr>
          <a:xfrm>
            <a:off x="889000" y="4937760"/>
            <a:ext cx="10424160" cy="1188720"/>
          </a:xfrm>
          <a:prstGeom prst="rect">
            <a:avLst/>
          </a:prstGeom>
          <a:solidFill>
            <a:srgbClr val="020808">
              <a:alpha val="92000"/>
            </a:srgb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63320" y="5193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803400" y="51206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isn’t relatable, it doesn’t resonate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803400" y="548640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with HunterLamin: every great brand project starts with “how does this connect with the audience?” and solves a business problem through strategy, social, and culture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MD log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328" y="960120"/>
            <a:ext cx="1463040" cy="586968"/>
          </a:xfrm>
          <a:prstGeom prst="rect">
            <a:avLst/>
          </a:prstGeom>
        </p:spPr>
      </p:pic>
      <p:sp>
        <p:nvSpPr>
          <p:cNvPr id="4" name="Series title"/>
          <p:cNvSpPr txBox="1"/>
          <p:nvPr/>
        </p:nvSpPr>
        <p:spPr>
          <a:xfrm>
            <a:off x="457200" y="169164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0" b="1" spc="1800" kern="0" dirty="0">
                <a:solidFill>
                  <a:schemeClr val="bg1"/>
                </a:solidFill>
                <a:effectLst>
                  <a:glow rad="228600">
                    <a:srgbClr val="2EE6FF">
                      <a:alpha val="45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SUBSTRATE</a:t>
            </a:r>
            <a:endParaRPr lang="en-US" sz="9200" dirty="0"/>
          </a:p>
        </p:txBody>
      </p:sp>
      <p:sp>
        <p:nvSpPr>
          <p:cNvPr id="5" name="Tagline"/>
          <p:cNvSpPr txBox="1"/>
          <p:nvPr/>
        </p:nvSpPr>
        <p:spPr>
          <a:xfrm>
            <a:off x="457200" y="31546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spc="5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CITY RUNS ON </a:t>
            </a:r>
            <a:pPr algn="ctr" indent="0" marL="0">
              <a:buNone/>
            </a:pPr>
            <a:r>
              <a:rPr lang="en-US" sz="2200" b="1" spc="5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SOMETHING.</a:t>
            </a:r>
            <a:endParaRPr lang="en-US" sz="2200" dirty="0"/>
          </a:p>
        </p:txBody>
      </p:sp>
      <p:sp>
        <p:nvSpPr>
          <p:cNvPr id="6" name="CTA button"/>
          <p:cNvSpPr/>
          <p:nvPr/>
        </p:nvSpPr>
        <p:spPr>
          <a:xfrm>
            <a:off x="4724248" y="3977640"/>
            <a:ext cx="2743200" cy="566928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724248" y="3977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city →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920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 SCHULDENFREI · NICHOLAS MOFFATT · MICHAEL BADILLO-SANCHEZ · ARNOLDO GARZA CORTES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SUBSTRATE">
  <a:themeElements>
    <a:clrScheme name="SUBSTRATE">
      <a:dk1>
        <a:srgbClr val="000000"/>
      </a:dk1>
      <a:lt1>
        <a:srgbClr val="E9F7F5"/>
      </a:lt1>
      <a:dk2>
        <a:srgbClr val="020808"/>
      </a:dk2>
      <a:lt2>
        <a:srgbClr val="9FB8B4"/>
      </a:lt2>
      <a:accent1>
        <a:srgbClr val="2EE6FF"/>
      </a:accent1>
      <a:accent2>
        <a:srgbClr val="39FF88"/>
      </a:accent2>
      <a:accent3>
        <a:srgbClr val="1B1D1F"/>
      </a:accent3>
      <a:accent4>
        <a:srgbClr val="D9DCDF"/>
      </a:accent4>
      <a:accent5>
        <a:srgbClr val="0A3A44"/>
      </a:accent5>
      <a:accent6>
        <a:srgbClr val="0A3420"/>
      </a:accent6>
      <a:hlink>
        <a:srgbClr val="2EE6FF"/>
      </a:hlink>
      <a:folHlink>
        <a:srgbClr val="39FF88"/>
      </a:folHlink>
    </a:clrScheme>
    <a:fontScheme name="SUBSTR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SUBSTRATE: AMD Creative Pathways Final Pitch</dc:title>
  <dc:subject>PptxGenJS Presentation</dc:subject>
  <dc:creator>Zoe Schuldenfrei, Nicholas Moffatt, Michael Badillo-Sanchez, Arnoldo Garza Cortes</dc:creator>
  <cp:lastModifiedBy>Zoe Schuldenfrei, Nicholas Moffatt, Michael Badillo-Sanchez, Arnoldo Garza Cortes</cp:lastModifiedBy>
  <cp:revision>1</cp:revision>
  <dcterms:created xsi:type="dcterms:W3CDTF">2026-10-16T15:14:51Z</dcterms:created>
  <dcterms:modified xsi:type="dcterms:W3CDTF">2026-10-16T15:14:51Z</dcterms:modified>
</cp:coreProperties>
</file>