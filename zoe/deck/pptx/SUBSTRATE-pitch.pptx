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6966f6f-a880-d002-688e-69c1fa4cad6e}">
          <p14:sldIdLst>
            <p14:sldId id="256"/>
          </p14:sldIdLst>
        </p14:section>
        <p14:section name="Before" id="{389d367a-545e-488b-47fb-5bc179e07bc0}">
          <p14:sldIdLst>
            <p14:sldId id="257"/>
            <p14:sldId id="258"/>
          </p14:sldIdLst>
        </p14:section>
        <p14:section name="After" id="{e348a097-0535-4f00-948f-39806bb0a27c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Close" id="{171d3aea-2ca8-5947-85fa-f6b8e2e543ef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0:00–0:20. Open on the title. "Every city runs on something." Introduce the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0:20–0:45. The brief was polished and optimistic, but swap the logo and it could be any tech company.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0:45–1:20. Say three out loud: audience, tell-don’t-show, CTA. AMD’s strength is that it’s invisible; the original tried to fix that by talking louder.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1:20–1:40. So we stopped making an ad about AMD. We built a place that runs on AMD.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1:40–2:30. Arcane’s cinematic characters meet Roku City’s hidden world inside your tech. AMD never narrates: AMD is the ground the city stands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Meet Subster, the Hooded Courier: an Underlayer robot who can see the current. Always tiny against the city, and the audience’s way into the world.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2:55–3:10. The reels aren’t trailers. Each one stands alone: one district, one character, one hook in the first second. The reel plays with sound.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3:10–4:00. Ask someone afterwards "What does AMD power?" and they say "the whole city". That’s measurable with a brand-lift study.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built the base. The real goal is to hand the city to creators: a streamer competition, a vertical series of their runs, and eventually AMD streamer ambassadors animated into the show.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4:00–4:40. One sentence per lesson, with the moment it came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4:40–4:50. The original said "AMD powers what’s next". We’d rather show it: a whole city of it.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B_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89000" y="698500"/>
            <a:ext cx="10414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5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89000" y="1079500"/>
            <a:ext cx="104140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B_STATEM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B_ORIGINAL">
    <p:bg>
      <p:bgPr>
        <a:solidFill>
          <a:srgbClr val="1B1D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video" Target="../media/media-1-1.mp4"/><Relationship Id="rId2" Type="http://schemas.microsoft.com/office/2007/relationships/media" Target="../media/media-1-1.mp4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6-4.jpe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video" Target="../media/media-7-4.mp4"/><Relationship Id="rId5" Type="http://schemas.microsoft.com/office/2007/relationships/media" Target="../media/media-7-4.mp4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video" Target="../media/media-11-1.mp4"/><Relationship Id="rId2" Type="http://schemas.microsoft.com/office/2007/relationships/media" Target="../media/media-11-1.mp4"/><Relationship Id="rId3" Type="http://schemas.openxmlformats.org/officeDocument/2006/relationships/image" Target="../media/image-1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MD log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444500"/>
            <a:ext cx="1333500" cy="534997"/>
          </a:xfrm>
          <a:prstGeom prst="rect">
            <a:avLst/>
          </a:prstGeom>
        </p:spPr>
      </p:pic>
      <p:sp>
        <p:nvSpPr>
          <p:cNvPr id="4" name="Eyebrow"/>
          <p:cNvSpPr txBox="1"/>
          <p:nvPr/>
        </p:nvSpPr>
        <p:spPr>
          <a:xfrm>
            <a:off x="889000" y="2413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 CREATIVE PATHWAYS · FINAL PITCH</a:t>
            </a:r>
            <a:endParaRPr lang="en-US" sz="1200" dirty="0"/>
          </a:p>
        </p:txBody>
      </p:sp>
      <p:sp>
        <p:nvSpPr>
          <p:cNvPr id="5" name="Series title"/>
          <p:cNvSpPr txBox="1"/>
          <p:nvPr/>
        </p:nvSpPr>
        <p:spPr>
          <a:xfrm>
            <a:off x="889000" y="273050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0" b="1" spc="1800" kern="0" dirty="0">
                <a:solidFill>
                  <a:schemeClr val="bg1"/>
                </a:solidFill>
                <a:effectLst>
                  <a:glow rad="228600">
                    <a:srgbClr val="2EE6FF">
                      <a:alpha val="45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SUBSTRATE</a:t>
            </a:r>
            <a:endParaRPr lang="en-US" sz="10000" dirty="0"/>
          </a:p>
        </p:txBody>
      </p:sp>
      <p:sp>
        <p:nvSpPr>
          <p:cNvPr id="6" name="Tagline"/>
          <p:cNvSpPr txBox="1"/>
          <p:nvPr/>
        </p:nvSpPr>
        <p:spPr>
          <a:xfrm>
            <a:off x="889000" y="43891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5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CITY RUNS ON </a:t>
            </a:r>
            <a:pPr indent="0" marL="0">
              <a:buNone/>
            </a:pPr>
            <a:r>
              <a:rPr lang="en-US" sz="2200" b="1" spc="5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SOMETHING.</a:t>
            </a:r>
            <a:endParaRPr lang="en-US" sz="2200" dirty="0"/>
          </a:p>
        </p:txBody>
      </p:sp>
      <p:sp>
        <p:nvSpPr>
          <p:cNvPr id="7" name="Team"/>
          <p:cNvSpPr txBox="1"/>
          <p:nvPr/>
        </p:nvSpPr>
        <p:spPr>
          <a:xfrm>
            <a:off x="889000" y="5969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ZOE SCHULDENFREI · NICHOLAS MOFFATT · MICHAEL BADILLO-SANCHEZ · ARNOLDO GARZA CORTES</a:t>
            </a:r>
            <a:endParaRPr lang="en-US" sz="11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9000" y="1143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9A9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ORIGINAL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000" y="14605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“AMD Powers What’s Next”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889000" y="2667000"/>
            <a:ext cx="4846320" cy="0"/>
          </a:xfrm>
          <a:prstGeom prst="line">
            <a:avLst/>
          </a:prstGeom>
          <a:noFill/>
          <a:ln w="9525">
            <a:solidFill>
              <a:srgbClr val="5A5F6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89000" y="28315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352040" y="283159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9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2-minute corporate brand video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01080" y="2667000"/>
            <a:ext cx="4846320" cy="0"/>
          </a:xfrm>
          <a:prstGeom prst="line">
            <a:avLst/>
          </a:prstGeom>
          <a:noFill/>
          <a:ln w="9525">
            <a:solidFill>
              <a:srgbClr val="5A5F6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01080" y="28315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564120" y="283159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9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 interviews, offices, beauty shots, stock AI imagery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89000" y="3535680"/>
            <a:ext cx="4846320" cy="0"/>
          </a:xfrm>
          <a:prstGeom prst="line">
            <a:avLst/>
          </a:prstGeom>
          <a:noFill/>
          <a:ln w="9525">
            <a:solidFill>
              <a:srgbClr val="5A5F6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89000" y="370027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352040" y="370027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9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at once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01080" y="3535680"/>
            <a:ext cx="4846320" cy="0"/>
          </a:xfrm>
          <a:prstGeom prst="line">
            <a:avLst/>
          </a:prstGeom>
          <a:noFill/>
          <a:ln w="9525">
            <a:solidFill>
              <a:srgbClr val="5A5F6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01080" y="370027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564120" y="370027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9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Inspirational music, confident voice-over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89000" y="4404360"/>
            <a:ext cx="4846320" cy="0"/>
          </a:xfrm>
          <a:prstGeom prst="line">
            <a:avLst/>
          </a:prstGeom>
          <a:noFill/>
          <a:ln w="9525">
            <a:solidFill>
              <a:srgbClr val="5A5F6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89000" y="45689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352040" y="456895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9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“Visit AMD.com”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101080" y="4404360"/>
            <a:ext cx="4846320" cy="0"/>
          </a:xfrm>
          <a:prstGeom prst="line">
            <a:avLst/>
          </a:prstGeom>
          <a:noFill/>
          <a:ln w="9525">
            <a:solidFill>
              <a:srgbClr val="5A5F6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01080" y="45689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564120" y="456895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9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Views, engagement, sentiment</a:t>
            </a:r>
            <a:endParaRPr lang="en-US" sz="1500" dirty="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89000" y="698500"/>
            <a:ext cx="1041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b="1" spc="500" kern="0" dirty="0">
                <a:solidFill>
                  <a:schemeClr val="accent1"/>
                </a:solidFill>
              </a:rPr>
              <a:t>WHAT WAS WRONG</a:t>
            </a:r>
            <a:endParaRPr lang="en-US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89000" y="1079500"/>
            <a:ext cx="1041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Polished. Optimistic. </a:t>
            </a:r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Forgettable.</a:t>
            </a:r>
            <a:endParaRPr lang="en-US" sz="4400" dirty="0"/>
          </a:p>
        </p:txBody>
      </p:sp>
      <p:sp>
        <p:nvSpPr>
          <p:cNvPr id="5" name="Problem 1"/>
          <p:cNvSpPr/>
          <p:nvPr/>
        </p:nvSpPr>
        <p:spPr>
          <a:xfrm>
            <a:off x="889000" y="2103120"/>
            <a:ext cx="3337560" cy="1965960"/>
          </a:xfrm>
          <a:prstGeom prst="rect">
            <a:avLst/>
          </a:prstGeom>
          <a:solidFill>
            <a:srgbClr val="020808">
              <a:alpha val="92000"/>
            </a:srgb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63320" y="23591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63320" y="265176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SPEAKS TO EVERYONE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63320" y="32461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it speaks to no one in particular.</a:t>
            </a:r>
            <a:endParaRPr lang="en-US" sz="1400" dirty="0"/>
          </a:p>
        </p:txBody>
      </p:sp>
      <p:sp>
        <p:nvSpPr>
          <p:cNvPr id="9" name="Problem 2"/>
          <p:cNvSpPr/>
          <p:nvPr/>
        </p:nvSpPr>
        <p:spPr>
          <a:xfrm>
            <a:off x="4500880" y="2103120"/>
            <a:ext cx="3337560" cy="1965960"/>
          </a:xfrm>
          <a:prstGeom prst="rect">
            <a:avLst/>
          </a:prstGeom>
          <a:solidFill>
            <a:srgbClr val="020808">
              <a:alpha val="92000"/>
            </a:srgb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75200" y="23591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775200" y="265176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TELLS, DOESN’T SHOW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775200" y="32461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 about innovation instead of a story people care about.</a:t>
            </a:r>
            <a:endParaRPr lang="en-US" sz="1400" dirty="0"/>
          </a:p>
        </p:txBody>
      </p:sp>
      <p:sp>
        <p:nvSpPr>
          <p:cNvPr id="13" name="Problem 3"/>
          <p:cNvSpPr/>
          <p:nvPr/>
        </p:nvSpPr>
        <p:spPr>
          <a:xfrm>
            <a:off x="8112760" y="2103120"/>
            <a:ext cx="3337560" cy="1965960"/>
          </a:xfrm>
          <a:prstGeom prst="rect">
            <a:avLst/>
          </a:prstGeom>
          <a:solidFill>
            <a:srgbClr val="020808">
              <a:alpha val="92000"/>
            </a:srgb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387080" y="23591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387080" y="265176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LOOKS LIKE EVERY TECH AD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387080" y="32461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Execs, offices and glowing chips are the category default.</a:t>
            </a:r>
            <a:endParaRPr lang="en-US" sz="1400" dirty="0"/>
          </a:p>
        </p:txBody>
      </p:sp>
      <p:sp>
        <p:nvSpPr>
          <p:cNvPr id="17" name="Problem 4"/>
          <p:cNvSpPr/>
          <p:nvPr/>
        </p:nvSpPr>
        <p:spPr>
          <a:xfrm>
            <a:off x="889000" y="4251960"/>
            <a:ext cx="3337560" cy="1965960"/>
          </a:xfrm>
          <a:prstGeom prst="rect">
            <a:avLst/>
          </a:prstGeom>
          <a:solidFill>
            <a:srgbClr val="020808">
              <a:alpha val="92000"/>
            </a:srgb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63320" y="45079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163320" y="480060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LENGTH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163320" y="539496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long for social, too generic for events.</a:t>
            </a:r>
            <a:endParaRPr lang="en-US" sz="1400" dirty="0"/>
          </a:p>
        </p:txBody>
      </p:sp>
      <p:sp>
        <p:nvSpPr>
          <p:cNvPr id="21" name="Problem 5"/>
          <p:cNvSpPr/>
          <p:nvPr/>
        </p:nvSpPr>
        <p:spPr>
          <a:xfrm>
            <a:off x="4500880" y="4251960"/>
            <a:ext cx="3337560" cy="1965960"/>
          </a:xfrm>
          <a:prstGeom prst="rect">
            <a:avLst/>
          </a:prstGeom>
          <a:solidFill>
            <a:srgbClr val="020808">
              <a:alpha val="92000"/>
            </a:srgb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75200" y="45079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4775200" y="480060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PASSIVE CTA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4775200" y="539496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“Visit AMD.com” gives no reason to act.</a:t>
            </a:r>
            <a:endParaRPr lang="en-US" sz="1400" dirty="0"/>
          </a:p>
        </p:txBody>
      </p:sp>
      <p:sp>
        <p:nvSpPr>
          <p:cNvPr id="25" name="Problem 6"/>
          <p:cNvSpPr/>
          <p:nvPr/>
        </p:nvSpPr>
        <p:spPr>
          <a:xfrm>
            <a:off x="8112760" y="4251960"/>
            <a:ext cx="3337560" cy="1965960"/>
          </a:xfrm>
          <a:prstGeom prst="rect">
            <a:avLst/>
          </a:prstGeom>
          <a:solidFill>
            <a:srgbClr val="020808">
              <a:alpha val="92000"/>
            </a:srgb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387080" y="45079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8387080" y="480060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VANITY METRICS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387080" y="539496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Views, not affinity or recall.</a:t>
            </a:r>
            <a:endParaRPr lang="en-US" sz="14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Eyebrow"/>
          <p:cNvSpPr txBox="1"/>
          <p:nvPr/>
        </p:nvSpPr>
        <p:spPr>
          <a:xfrm>
            <a:off x="88900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TURN</a:t>
            </a:r>
            <a:endParaRPr lang="en-US" sz="1200" dirty="0"/>
          </a:p>
        </p:txBody>
      </p:sp>
      <p:sp>
        <p:nvSpPr>
          <p:cNvPr id="4" name="Statement"/>
          <p:cNvSpPr txBox="1"/>
          <p:nvPr/>
        </p:nvSpPr>
        <p:spPr>
          <a:xfrm>
            <a:off x="889000" y="2286000"/>
            <a:ext cx="10515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telling people what AMD powers.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effectLst>
                  <a:glow rad="152400">
                    <a:srgbClr val="2EE6FF">
                      <a:alpha val="35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Show them the ground </a:t>
            </a:r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  <a:effectLst>
                  <a:glow rad="152400">
                    <a:srgbClr val="39FF88">
                      <a:alpha val="35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they’re standing on.</a:t>
            </a:r>
            <a:endParaRPr lang="en-US" sz="5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89000" y="698500"/>
            <a:ext cx="1041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b="1" spc="500" kern="0" dirty="0">
                <a:solidFill>
                  <a:schemeClr val="accent1"/>
                </a:solidFill>
              </a:rPr>
              <a:t>THE NEW CONCEPT</a:t>
            </a:r>
            <a:endParaRPr lang="en-US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89000" y="1079500"/>
            <a:ext cx="1041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SUBSTRATE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889000" y="210312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gothic-futuristic city whose people have no idea what their world really is. Every reel ends with the camera pulling back until we realize </a:t>
            </a:r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entire city is built on a processor.</a:t>
            </a:r>
            <a:endParaRPr lang="en-US" sz="2000" dirty="0"/>
          </a:p>
        </p:txBody>
      </p:sp>
      <p:sp>
        <p:nvSpPr>
          <p:cNvPr id="6" name="Step 1"/>
          <p:cNvSpPr/>
          <p:nvPr/>
        </p:nvSpPr>
        <p:spPr>
          <a:xfrm>
            <a:off x="889000" y="3840480"/>
            <a:ext cx="3154680" cy="1920240"/>
          </a:xfrm>
          <a:prstGeom prst="rect">
            <a:avLst/>
          </a:prstGeom>
          <a:solidFill>
            <a:srgbClr val="020808">
              <a:alpha val="92000"/>
            </a:srgb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63320" y="41148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SKYLINE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63320" y="443484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CIRCUITRY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163320" y="489204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Towers are the chip’s architecture.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153408" y="45262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Step 2"/>
          <p:cNvSpPr/>
          <p:nvPr/>
        </p:nvSpPr>
        <p:spPr>
          <a:xfrm>
            <a:off x="4610608" y="3840480"/>
            <a:ext cx="3154680" cy="1920240"/>
          </a:xfrm>
          <a:prstGeom prst="rect">
            <a:avLst/>
          </a:prstGeom>
          <a:solidFill>
            <a:srgbClr val="020808">
              <a:alpha val="92000"/>
            </a:srgb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84928" y="41148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RIVERS OF LIGHT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884928" y="443484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DATA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884928" y="489204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Photons pouring between the spires.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875016" y="45262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tep 3"/>
          <p:cNvSpPr/>
          <p:nvPr/>
        </p:nvSpPr>
        <p:spPr>
          <a:xfrm>
            <a:off x="8332216" y="3840480"/>
            <a:ext cx="3154680" cy="1920240"/>
          </a:xfrm>
          <a:prstGeom prst="rect">
            <a:avLst/>
          </a:prstGeom>
          <a:solidFill>
            <a:srgbClr val="020808">
              <a:alpha val="92000"/>
            </a:srgb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606536" y="41148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PULLBACK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06536" y="443484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REVEALS THE CHIP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606536" y="489204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…and the AMD logo. The brand reveal is the payoff.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ubster frame"/>
          <p:cNvSpPr/>
          <p:nvPr/>
        </p:nvSpPr>
        <p:spPr>
          <a:xfrm>
            <a:off x="870712" y="896112"/>
            <a:ext cx="5157216" cy="4901184"/>
          </a:xfrm>
          <a:prstGeom prst="rect">
            <a:avLst/>
          </a:prstGeom>
          <a:solidFill>
            <a:srgbClr val="000000"/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pic>
        <p:nvPicPr>
          <p:cNvPr id="4" name="Subster" descr="Subster: a small hooded robot with big cyan eyes, a green chest core and light rising from its raised han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914400"/>
            <a:ext cx="5120640" cy="486460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263640" y="822960"/>
            <a:ext cx="5394960" cy="5212080"/>
          </a:xfrm>
          <a:prstGeom prst="rect">
            <a:avLst/>
          </a:prstGeom>
          <a:solidFill>
            <a:srgbClr val="000000">
              <a:alpha val="88000"/>
            </a:srgbClr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6492240" y="1051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THE HERO</a:t>
            </a:r>
            <a:endParaRPr lang="en-US" sz="1200" dirty="0"/>
          </a:p>
        </p:txBody>
      </p:sp>
      <p:sp>
        <p:nvSpPr>
          <p:cNvPr id="7" name="Subster name"/>
          <p:cNvSpPr txBox="1"/>
          <p:nvPr/>
        </p:nvSpPr>
        <p:spPr>
          <a:xfrm>
            <a:off x="6492240" y="13716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spc="300" kern="0" dirty="0">
                <a:solidFill>
                  <a:schemeClr val="bg1"/>
                </a:solidFill>
                <a:effectLst>
                  <a:glow rad="177800">
                    <a:srgbClr val="2EE6FF">
                      <a:alpha val="4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SUBSTER</a:t>
            </a:r>
            <a:endParaRPr lang="en-US" sz="6400" dirty="0"/>
          </a:p>
        </p:txBody>
      </p:sp>
      <p:sp>
        <p:nvSpPr>
          <p:cNvPr id="8" name="Text 4"/>
          <p:cNvSpPr txBox="1"/>
          <p:nvPr/>
        </p:nvSpPr>
        <p:spPr>
          <a:xfrm>
            <a:off x="6492240" y="23774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HOODED COURIER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6492240" y="30175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SEES THE CURRENT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6492240" y="3328416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courier from the Underlayer who can see the light and data no one else notices.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492240" y="39776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AGAINST THE CITY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4288536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tiny, always looking up. The audience’s way into the world.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492240" y="49377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CARRIES THE SEED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492240" y="5248656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core that decides which half of the city grows, delivered to the Gate.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89000" y="698500"/>
            <a:ext cx="1041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b="1" spc="500" kern="0" dirty="0">
                <a:solidFill>
                  <a:schemeClr val="accent1"/>
                </a:solidFill>
              </a:rPr>
              <a:t>THE REELS · 20–45S · TIKTOK, REELS, SHORTS</a:t>
            </a:r>
            <a:endParaRPr lang="en-US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89000" y="1079500"/>
            <a:ext cx="1041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Story first. </a:t>
            </a:r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The chip last.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889000" y="2148840"/>
            <a:ext cx="6766560" cy="0"/>
          </a:xfrm>
          <a:prstGeom prst="line">
            <a:avLst/>
          </a:prstGeom>
          <a:noFill/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89000" y="23042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529080" y="2258568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city runs on something.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529080" y="258775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 runs the Underlayer rooftops. Hero teaser.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89000" y="2990088"/>
            <a:ext cx="6766560" cy="0"/>
          </a:xfrm>
          <a:prstGeom prst="line">
            <a:avLst/>
          </a:prstGeom>
          <a:noFill/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9000" y="31455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529080" y="3099816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Current.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529080" y="342900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 sees the light rivers for the first time. Pure spectacle.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89000" y="3831336"/>
            <a:ext cx="6766560" cy="0"/>
          </a:xfrm>
          <a:prstGeom prst="line">
            <a:avLst/>
          </a:prstGeom>
          <a:noFill/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89000" y="398678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529080" y="3941064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Seed.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529080" y="4270248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orb is stolen: a chase through the Spires.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89000" y="4672584"/>
            <a:ext cx="6766560" cy="0"/>
          </a:xfrm>
          <a:prstGeom prst="line">
            <a:avLst/>
          </a:prstGeom>
          <a:noFill/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89000" y="48280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529080" y="4782312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Gate.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1529080" y="5111496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 before the ring vault. Cliffhanger + series title.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89000" y="56692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one ends the same way: </a:t>
            </a:r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back → city is a chip → AMD.</a:t>
            </a:r>
            <a:endParaRPr lang="en-US" sz="1500" dirty="0"/>
          </a:p>
        </p:txBody>
      </p:sp>
      <p:sp>
        <p:nvSpPr>
          <p:cNvPr id="22" name="Phone frame"/>
          <p:cNvSpPr/>
          <p:nvPr/>
        </p:nvSpPr>
        <p:spPr>
          <a:xfrm>
            <a:off x="8531352" y="758952"/>
            <a:ext cx="2980944" cy="5340096"/>
          </a:xfrm>
          <a:prstGeom prst="roundRect">
            <a:avLst>
              <a:gd name="adj" fmla="val 5521"/>
            </a:avLst>
          </a:prstGeom>
          <a:solidFill>
            <a:srgbClr val="000000"/>
          </a:solidFill>
          <a:ln w="19050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6" name="Media 1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595360" y="822960"/>
            <a:ext cx="2852928" cy="50749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  <p:par>
                          <p:cTn id="6" presetID="1" presetClass="mediacall" presetSubtype="0" fill="hold" nodeType="with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7" dur="15000" fill="hold"/>
                                  <p:tgtEl>
                                    <p:spTgt spid="6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8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video>
              <p:cMediaNode vol="80000">
                <p:cTn id="9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89000" y="698500"/>
            <a:ext cx="1041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b="1" spc="500" kern="0" dirty="0">
                <a:solidFill>
                  <a:schemeClr val="accent1"/>
                </a:solidFill>
              </a:rPr>
              <a:t>AUDIENCE TAKEAWAY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889000" y="1554480"/>
            <a:ext cx="5486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“AMD isn’t a logo at the end of an ad. 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effectLst>
                  <a:glow rad="127000">
                    <a:srgbClr val="2EE6FF">
                      <a:alpha val="35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It’s the ground the whole city stands on.”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89000" y="420624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brand reveal is the story’s payoff, so remembering the story means remembering AMD.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720840" y="1600200"/>
            <a:ext cx="4572000" cy="0"/>
          </a:xfrm>
          <a:prstGeom prst="line">
            <a:avLst/>
          </a:prstGeom>
          <a:noFill/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20840" y="17830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092440" y="175564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 Z gamers, animation fans, creators. Narrow on purpose.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720840" y="2624328"/>
            <a:ext cx="4572000" cy="0"/>
          </a:xfrm>
          <a:prstGeom prst="line">
            <a:avLst/>
          </a:prstGeom>
          <a:noFill/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720840" y="280720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092440" y="2779776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TikTok, Instagram Reels, YouTube Shorts, gaming streams, events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720840" y="3648456"/>
            <a:ext cx="4572000" cy="0"/>
          </a:xfrm>
          <a:prstGeom prst="line">
            <a:avLst/>
          </a:prstGeom>
          <a:noFill/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720840" y="3831336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CTA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092440" y="3803904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“Find the city”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easter eggs + a streamer competition set inside SUBSTRATE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720840" y="4672584"/>
            <a:ext cx="4572000" cy="0"/>
          </a:xfrm>
          <a:prstGeom prst="line">
            <a:avLst/>
          </a:prstGeom>
          <a:noFill/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4855464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092440" y="48280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Watch-through, shares, follows, creator participation, </a:t>
            </a:r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recall</a:t>
            </a:r>
            <a:endParaRPr lang="en-US" sz="14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889000" y="1079500"/>
            <a:ext cx="1041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89000" y="698500"/>
            <a:ext cx="1041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b="1" spc="500" kern="0" dirty="0">
                <a:solidFill>
                  <a:schemeClr val="accent1"/>
                </a:solidFill>
              </a:rPr>
              <a:t>WHAT’S NEXT</a:t>
            </a:r>
            <a:endParaRPr lang="en-US" sz="1200" dirty="0"/>
          </a:p>
        </p:txBody>
      </p:sp>
      <p:sp>
        <p:nvSpPr>
          <p:cNvPr id="4" name="Title"/>
          <p:cNvSpPr txBox="1"/>
          <p:nvPr/>
        </p:nvSpPr>
        <p:spPr>
          <a:xfrm>
            <a:off x="889000" y="107950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reels are the base.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Creators build the city.</a:t>
            </a:r>
            <a:endParaRPr lang="en-US" sz="4000" dirty="0"/>
          </a:p>
        </p:txBody>
      </p:sp>
      <p:sp>
        <p:nvSpPr>
          <p:cNvPr id="5" name="Phase 1"/>
          <p:cNvSpPr/>
          <p:nvPr/>
        </p:nvSpPr>
        <p:spPr>
          <a:xfrm>
            <a:off x="889000" y="2606040"/>
            <a:ext cx="3291840" cy="3611880"/>
          </a:xfrm>
          <a:prstGeom prst="rect">
            <a:avLst/>
          </a:prstGeom>
          <a:solidFill>
            <a:srgbClr val="020808">
              <a:alpha val="92000"/>
            </a:srgb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5032" y="2880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· THE BASE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5032" y="322783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SIZZLE REELS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145032" y="3977640"/>
            <a:ext cx="2834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world and the hook. Every reel ends on the same reveal: the city is the chip, and the chip is AMD.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208272" y="416052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Phase 2"/>
          <p:cNvSpPr/>
          <p:nvPr/>
        </p:nvSpPr>
        <p:spPr>
          <a:xfrm>
            <a:off x="4564888" y="2606040"/>
            <a:ext cx="3291840" cy="3611880"/>
          </a:xfrm>
          <a:prstGeom prst="rect">
            <a:avLst/>
          </a:prstGeom>
          <a:solidFill>
            <a:srgbClr val="020808">
              <a:alpha val="92000"/>
            </a:srgb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20920" y="2880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· CREATORS ENTER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820920" y="322783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STREAMER COMPETITION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820920" y="3977640"/>
            <a:ext cx="2834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Streamers compete inside SUBSTRATE: race the rooftops, hunt the hidden chips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runs become a short-form vertical series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“Find the city” easter eggs pull fans in with them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884160" y="416052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Phase 3"/>
          <p:cNvSpPr/>
          <p:nvPr/>
        </p:nvSpPr>
        <p:spPr>
          <a:xfrm>
            <a:off x="8240776" y="2606040"/>
            <a:ext cx="3291840" cy="3611880"/>
          </a:xfrm>
          <a:prstGeom prst="rect">
            <a:avLst/>
          </a:prstGeom>
          <a:solidFill>
            <a:srgbClr val="020808">
              <a:alpha val="92000"/>
            </a:srgb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96808" y="2880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· CREATORS IN CANON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496808" y="322783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AMBASSADORS IN THE CITY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496808" y="3977640"/>
            <a:ext cx="2834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Famous streamers who already play on AMD, animated as characters in the series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audiences discover the city through someone they trust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audience stops watching the city and starts living in it</a:t>
            </a:r>
            <a:endParaRPr lang="en-US" sz="1400" dirty="0"/>
          </a:p>
        </p:txBody>
      </p:sp>
      <p:sp>
        <p:nvSpPr>
          <p:cNvPr id="20" name="Text 0"/>
          <p:cNvSpPr/>
          <p:nvPr>
            <p:ph idx="101" type="title" hasCustomPrompt="1"/>
          </p:nvPr>
        </p:nvSpPr>
        <p:spPr>
          <a:xfrm>
            <a:off x="889000" y="1079500"/>
            <a:ext cx="1041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89000" y="698500"/>
            <a:ext cx="1041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b="1" spc="500" kern="0" dirty="0">
                <a:solidFill>
                  <a:schemeClr val="accent1"/>
                </a:solidFill>
              </a:rPr>
              <a:t>WHAT CHANGED OUR THINKING</a:t>
            </a:r>
            <a:endParaRPr lang="en-US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89000" y="1079500"/>
            <a:ext cx="1041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Program Lessons</a:t>
            </a:r>
            <a:endParaRPr lang="en-US" sz="4400" dirty="0"/>
          </a:p>
        </p:txBody>
      </p:sp>
      <p:sp>
        <p:nvSpPr>
          <p:cNvPr id="5" name="Lesson 1"/>
          <p:cNvSpPr/>
          <p:nvPr/>
        </p:nvSpPr>
        <p:spPr>
          <a:xfrm>
            <a:off x="889000" y="2194560"/>
            <a:ext cx="10424160" cy="1188720"/>
          </a:xfrm>
          <a:prstGeom prst="rect">
            <a:avLst/>
          </a:prstGeom>
          <a:solidFill>
            <a:srgbClr val="020808">
              <a:alpha val="92000"/>
            </a:srgb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63320" y="24505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803400" y="237744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 is already inside everything; you just can’t see it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803400" y="2743200"/>
            <a:ext cx="9235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 intros: learning AMD chips power healthcare, aerospace, robotics, gaming, and entertainment, from Pixar’s RenderMan to The Game Awards and the CES keynote</a:t>
            </a:r>
            <a:endParaRPr lang="en-US" sz="1400" dirty="0"/>
          </a:p>
        </p:txBody>
      </p:sp>
      <p:sp>
        <p:nvSpPr>
          <p:cNvPr id="9" name="Lesson 2"/>
          <p:cNvSpPr/>
          <p:nvPr/>
        </p:nvSpPr>
        <p:spPr>
          <a:xfrm>
            <a:off x="889000" y="3566160"/>
            <a:ext cx="10424160" cy="1188720"/>
          </a:xfrm>
          <a:prstGeom prst="rect">
            <a:avLst/>
          </a:prstGeom>
          <a:solidFill>
            <a:srgbClr val="020808">
              <a:alpha val="92000"/>
            </a:srgb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63320" y="38221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803400" y="374904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Creativity exists to solve a real problem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803400" y="4114800"/>
            <a:ext cx="9235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creative director session: the Air Force made a comedy web series about bowling leagues to boost morale, proof that entertainment can do serious work</a:t>
            </a:r>
            <a:endParaRPr lang="en-US" sz="1400" dirty="0"/>
          </a:p>
        </p:txBody>
      </p:sp>
      <p:sp>
        <p:nvSpPr>
          <p:cNvPr id="13" name="Lesson 3"/>
          <p:cNvSpPr/>
          <p:nvPr/>
        </p:nvSpPr>
        <p:spPr>
          <a:xfrm>
            <a:off x="889000" y="4937760"/>
            <a:ext cx="10424160" cy="1188720"/>
          </a:xfrm>
          <a:prstGeom prst="rect">
            <a:avLst/>
          </a:prstGeom>
          <a:solidFill>
            <a:srgbClr val="020808">
              <a:alpha val="92000"/>
            </a:srgb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63320" y="5193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803400" y="512064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it isn’t relatable, it doesn’t resonate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803400" y="5486400"/>
            <a:ext cx="9235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3 with HunterLamin: every great brand project starts with “how does this connect with the audience?” and solves a business problem through strategy, social, and culture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MD log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328" y="960120"/>
            <a:ext cx="1463040" cy="586968"/>
          </a:xfrm>
          <a:prstGeom prst="rect">
            <a:avLst/>
          </a:prstGeom>
        </p:spPr>
      </p:pic>
      <p:sp>
        <p:nvSpPr>
          <p:cNvPr id="4" name="Series title"/>
          <p:cNvSpPr txBox="1"/>
          <p:nvPr/>
        </p:nvSpPr>
        <p:spPr>
          <a:xfrm>
            <a:off x="457200" y="1691640"/>
            <a:ext cx="112772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200" b="1" spc="1800" kern="0" dirty="0">
                <a:solidFill>
                  <a:schemeClr val="bg1"/>
                </a:solidFill>
                <a:effectLst>
                  <a:glow rad="228600">
                    <a:srgbClr val="2EE6FF">
                      <a:alpha val="45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SUBSTRATE</a:t>
            </a:r>
            <a:endParaRPr lang="en-US" sz="9200" dirty="0"/>
          </a:p>
        </p:txBody>
      </p:sp>
      <p:sp>
        <p:nvSpPr>
          <p:cNvPr id="5" name="Tagline"/>
          <p:cNvSpPr txBox="1"/>
          <p:nvPr/>
        </p:nvSpPr>
        <p:spPr>
          <a:xfrm>
            <a:off x="457200" y="315468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spc="5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CITY RUNS ON </a:t>
            </a:r>
            <a:pPr algn="ctr" indent="0" marL="0">
              <a:buNone/>
            </a:pPr>
            <a:r>
              <a:rPr lang="en-US" sz="2200" b="1" spc="5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SOMETHING.</a:t>
            </a:r>
            <a:endParaRPr lang="en-US" sz="2200" dirty="0"/>
          </a:p>
        </p:txBody>
      </p:sp>
      <p:sp>
        <p:nvSpPr>
          <p:cNvPr id="6" name="CTA button"/>
          <p:cNvSpPr/>
          <p:nvPr/>
        </p:nvSpPr>
        <p:spPr>
          <a:xfrm>
            <a:off x="4724248" y="3977640"/>
            <a:ext cx="2743200" cy="566928"/>
          </a:xfrm>
          <a:prstGeom prst="rect">
            <a:avLst/>
          </a:prstGeom>
          <a:solidFill>
            <a:srgbClr val="000000">
              <a:alpha val="60000"/>
            </a:srgbClr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4724248" y="397764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the city →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89204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53492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ZOE SCHULDENFREI · NICHOLAS MOFFATT · MICHAEL BADILLO-SANCHEZ · ARNOLDO GARZA CORTES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SUBSTRATE">
  <a:themeElements>
    <a:clrScheme name="SUBSTRATE">
      <a:dk1>
        <a:srgbClr val="000000"/>
      </a:dk1>
      <a:lt1>
        <a:srgbClr val="E9F7F5"/>
      </a:lt1>
      <a:dk2>
        <a:srgbClr val="020808"/>
      </a:dk2>
      <a:lt2>
        <a:srgbClr val="9FB8B4"/>
      </a:lt2>
      <a:accent1>
        <a:srgbClr val="2EE6FF"/>
      </a:accent1>
      <a:accent2>
        <a:srgbClr val="39FF88"/>
      </a:accent2>
      <a:accent3>
        <a:srgbClr val="1B1D1F"/>
      </a:accent3>
      <a:accent4>
        <a:srgbClr val="D9DCDF"/>
      </a:accent4>
      <a:accent5>
        <a:srgbClr val="0A3A44"/>
      </a:accent5>
      <a:accent6>
        <a:srgbClr val="0A3420"/>
      </a:accent6>
      <a:hlink>
        <a:srgbClr val="2EE6FF"/>
      </a:hlink>
      <a:folHlink>
        <a:srgbClr val="39FF88"/>
      </a:folHlink>
    </a:clrScheme>
    <a:fontScheme name="SUBSTRAT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SUBSTRATE: AMD Creative Pathways Final Pitch</dc:title>
  <dc:subject>PptxGenJS Presentation</dc:subject>
  <dc:creator>Zoe Schuldenfrei, Nicholas Moffatt, Michael Badillo-Sanchez, Arnoldo Garza Cortes</dc:creator>
  <cp:lastModifiedBy>Zoe Schuldenfrei, Nicholas Moffatt, Michael Badillo-Sanchez, Arnoldo Garza Cortes</cp:lastModifiedBy>
  <cp:revision>1</cp:revision>
  <dcterms:created xsi:type="dcterms:W3CDTF">2026-10-15T20:43:44Z</dcterms:created>
  <dcterms:modified xsi:type="dcterms:W3CDTF">2026-10-15T20:43:44Z</dcterms:modified>
</cp:coreProperties>
</file>